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78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5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126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972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89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70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36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71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06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69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77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1416C-CA45-4670-ABD5-16B0609E5D38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2BA5-A74D-423A-A2B4-0D7694B60F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08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dhamani/goodreads-books-100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Классификация жанра книги по аннотации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065175"/>
            <a:ext cx="9144000" cy="1655762"/>
          </a:xfrm>
        </p:spPr>
        <p:txBody>
          <a:bodyPr>
            <a:normAutofit/>
          </a:bodyPr>
          <a:lstStyle/>
          <a:p>
            <a:r>
              <a:rPr lang="ru-RU" sz="2800" dirty="0"/>
              <a:t>Итоговый проект по курсу «Прикладные нейронные сети</a:t>
            </a:r>
            <a:r>
              <a:rPr lang="ru-RU" sz="2800" dirty="0" smtClean="0"/>
              <a:t>»</a:t>
            </a:r>
            <a:endParaRPr lang="en-US" sz="2800" dirty="0" smtClean="0"/>
          </a:p>
          <a:p>
            <a:r>
              <a:rPr lang="ru-RU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Линёв Никита, МЦМГН251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22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6637" y="632155"/>
            <a:ext cx="10515600" cy="559051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ru-RU" sz="3000" b="1" dirty="0" smtClean="0"/>
              <a:t>Задача:</a:t>
            </a:r>
            <a:r>
              <a:rPr lang="ru-RU" sz="3000" dirty="0" smtClean="0"/>
              <a:t> сравнить подходы к определению жанра книги по </a:t>
            </a:r>
            <a:r>
              <a:rPr lang="ru-RU" sz="3000" dirty="0"/>
              <a:t>тексту </a:t>
            </a:r>
            <a:r>
              <a:rPr lang="ru-RU" sz="3000" dirty="0" smtClean="0"/>
              <a:t>аннотации.</a:t>
            </a:r>
          </a:p>
          <a:p>
            <a:pPr marL="0" indent="0" algn="just">
              <a:buNone/>
            </a:pPr>
            <a:endParaRPr lang="ru-RU" sz="1500" dirty="0"/>
          </a:p>
          <a:p>
            <a:pPr marL="0" indent="0" algn="just">
              <a:buNone/>
            </a:pPr>
            <a:r>
              <a:rPr lang="ru-RU" sz="3000" b="1" dirty="0" smtClean="0"/>
              <a:t>В чем прикладное применение?</a:t>
            </a:r>
          </a:p>
          <a:p>
            <a:pPr marL="0" indent="0" algn="just">
              <a:buNone/>
            </a:pPr>
            <a:endParaRPr lang="ru-RU" sz="500" dirty="0" smtClean="0"/>
          </a:p>
          <a:p>
            <a:pPr algn="just"/>
            <a:r>
              <a:rPr lang="ru-RU" dirty="0" smtClean="0"/>
              <a:t>Каталогизация и фильтрация в книжных сервисах</a:t>
            </a:r>
          </a:p>
          <a:p>
            <a:pPr algn="just"/>
            <a:r>
              <a:rPr lang="ru-RU" dirty="0" smtClean="0"/>
              <a:t>Основа для рекомендательных систем</a:t>
            </a:r>
          </a:p>
          <a:p>
            <a:pPr algn="just"/>
            <a:r>
              <a:rPr lang="ru-RU" dirty="0" smtClean="0"/>
              <a:t>Классическая NLP-задача на многоклассовую классификацию текста</a:t>
            </a:r>
          </a:p>
          <a:p>
            <a:pPr algn="just"/>
            <a:endParaRPr lang="ru-RU" sz="1500" dirty="0"/>
          </a:p>
          <a:p>
            <a:pPr marL="0" indent="0" algn="just">
              <a:buNone/>
            </a:pPr>
            <a:r>
              <a:rPr lang="ru-RU" b="1" dirty="0" smtClean="0"/>
              <a:t>Почему именно эта тема?</a:t>
            </a:r>
          </a:p>
          <a:p>
            <a:pPr marL="0" indent="0" algn="just">
              <a:buNone/>
            </a:pPr>
            <a:endParaRPr lang="ru-RU" sz="1100" dirty="0" smtClean="0"/>
          </a:p>
          <a:p>
            <a:pPr algn="just"/>
            <a:r>
              <a:rPr lang="ru-RU" dirty="0" smtClean="0"/>
              <a:t>Можно сравнить базовый подход и </a:t>
            </a:r>
            <a:r>
              <a:rPr lang="ru-RU" dirty="0" err="1" smtClean="0"/>
              <a:t>нейронки</a:t>
            </a:r>
            <a:endParaRPr lang="ru-RU" dirty="0" smtClean="0"/>
          </a:p>
          <a:p>
            <a:pPr algn="just"/>
            <a:r>
              <a:rPr lang="ru-RU" dirty="0" smtClean="0"/>
              <a:t>Открытые данные в публичном доступе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506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760021"/>
            <a:ext cx="10882745" cy="541694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b="1" dirty="0" smtClean="0"/>
              <a:t>Источник данных:</a:t>
            </a:r>
            <a:r>
              <a:rPr lang="ru-RU" dirty="0"/>
              <a:t> </a:t>
            </a:r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ru-RU" dirty="0" smtClean="0"/>
              <a:t>«</a:t>
            </a:r>
            <a:r>
              <a:rPr lang="en-US" dirty="0" err="1"/>
              <a:t>GoodReads</a:t>
            </a:r>
            <a:r>
              <a:rPr lang="en-US" dirty="0"/>
              <a:t> 100k </a:t>
            </a:r>
            <a:r>
              <a:rPr lang="en-US" dirty="0" smtClean="0"/>
              <a:t>books</a:t>
            </a:r>
            <a:r>
              <a:rPr lang="ru-RU" dirty="0" smtClean="0"/>
              <a:t>»</a:t>
            </a:r>
            <a:r>
              <a:rPr lang="en-US" dirty="0" smtClean="0"/>
              <a:t> (</a:t>
            </a:r>
            <a:r>
              <a:rPr lang="en-US" dirty="0" err="1"/>
              <a:t>Kaggle</a:t>
            </a:r>
            <a:r>
              <a:rPr lang="en-US" dirty="0"/>
              <a:t>), ~100 000 </a:t>
            </a:r>
            <a:r>
              <a:rPr lang="ru-RU" dirty="0" smtClean="0"/>
              <a:t>книг</a:t>
            </a:r>
            <a:endParaRPr lang="ru-RU" dirty="0"/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https://www.kaggle.com/datasets/mdhamani/goodreads-books-100k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 smtClean="0"/>
              <a:t>Предобработка</a:t>
            </a:r>
          </a:p>
          <a:p>
            <a:pPr marL="0" indent="0">
              <a:buNone/>
            </a:pPr>
            <a:endParaRPr lang="ru-RU" sz="1100" dirty="0" smtClean="0"/>
          </a:p>
          <a:p>
            <a:r>
              <a:rPr lang="ru-RU" dirty="0" smtClean="0"/>
              <a:t>Первый тег жанра до запятой (</a:t>
            </a:r>
            <a:r>
              <a:rPr lang="en-US" dirty="0" smtClean="0"/>
              <a:t>History,</a:t>
            </a:r>
            <a:r>
              <a:rPr lang="ru-RU" dirty="0" smtClean="0"/>
              <a:t> </a:t>
            </a:r>
            <a:r>
              <a:rPr lang="en-US" dirty="0" smtClean="0"/>
              <a:t>Nonfiction → History)</a:t>
            </a:r>
          </a:p>
          <a:p>
            <a:r>
              <a:rPr lang="ru-RU" dirty="0" smtClean="0"/>
              <a:t>Убраны пустые жанры и короткие аннотации (&lt; 80 символов)</a:t>
            </a:r>
          </a:p>
          <a:p>
            <a:r>
              <a:rPr lang="ru-RU" dirty="0" smtClean="0"/>
              <a:t>5 жанров × 600 книг = 3000 примеров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b="1" dirty="0" smtClean="0"/>
              <a:t>Жанры:</a:t>
            </a:r>
            <a:r>
              <a:rPr lang="ru-RU" dirty="0" smtClean="0"/>
              <a:t> </a:t>
            </a:r>
            <a:r>
              <a:rPr lang="en-US" dirty="0" smtClean="0"/>
              <a:t>Fantasy</a:t>
            </a:r>
            <a:r>
              <a:rPr lang="ru-RU" dirty="0" smtClean="0"/>
              <a:t>, </a:t>
            </a:r>
            <a:r>
              <a:rPr lang="en-US" dirty="0" smtClean="0"/>
              <a:t>History</a:t>
            </a:r>
            <a:r>
              <a:rPr lang="ru-RU" dirty="0" smtClean="0"/>
              <a:t>,</a:t>
            </a:r>
            <a:r>
              <a:rPr lang="en-US" dirty="0" smtClean="0"/>
              <a:t> Nonfiction</a:t>
            </a:r>
            <a:r>
              <a:rPr lang="ru-RU" dirty="0" smtClean="0"/>
              <a:t>,</a:t>
            </a:r>
            <a:r>
              <a:rPr lang="en-US" dirty="0" smtClean="0"/>
              <a:t> Romance</a:t>
            </a:r>
            <a:r>
              <a:rPr lang="ru-RU" dirty="0" smtClean="0"/>
              <a:t>,</a:t>
            </a:r>
            <a:r>
              <a:rPr lang="en-US" dirty="0" smtClean="0"/>
              <a:t> Sequential Art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b="1" dirty="0" smtClean="0"/>
              <a:t>Разбиение:</a:t>
            </a:r>
            <a:r>
              <a:rPr lang="ru-RU" dirty="0" smtClean="0"/>
              <a:t> </a:t>
            </a:r>
            <a:r>
              <a:rPr lang="en-US" dirty="0" smtClean="0"/>
              <a:t>train 2400 / validation 300 / test 300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2143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686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 err="1" smtClean="0"/>
              <a:t>Пайплайн</a:t>
            </a:r>
            <a:r>
              <a:rPr lang="ru-RU" b="1" dirty="0" smtClean="0"/>
              <a:t>:</a:t>
            </a:r>
            <a:r>
              <a:rPr lang="ru-RU" b="1" dirty="0"/>
              <a:t> </a:t>
            </a:r>
            <a:r>
              <a:rPr lang="en-US" dirty="0" smtClean="0"/>
              <a:t>books.csv → </a:t>
            </a:r>
            <a:r>
              <a:rPr lang="ru-RU" dirty="0" smtClean="0"/>
              <a:t>предобработка → </a:t>
            </a:r>
            <a:r>
              <a:rPr lang="en-US" dirty="0" smtClean="0"/>
              <a:t>train / </a:t>
            </a:r>
            <a:r>
              <a:rPr lang="en-US" dirty="0" err="1" smtClean="0"/>
              <a:t>val</a:t>
            </a:r>
            <a:r>
              <a:rPr lang="en-US" dirty="0" smtClean="0"/>
              <a:t> / test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 smtClean="0"/>
              <a:t>Baseline</a:t>
            </a:r>
            <a:r>
              <a:rPr lang="en-US" dirty="0" smtClean="0"/>
              <a:t>: TF-IDF (5000 </a:t>
            </a:r>
            <a:r>
              <a:rPr lang="ru-RU" dirty="0" smtClean="0"/>
              <a:t>признаков, </a:t>
            </a:r>
            <a:r>
              <a:rPr lang="en-US" dirty="0" smtClean="0"/>
              <a:t>n-</a:t>
            </a:r>
            <a:r>
              <a:rPr lang="ru-RU" dirty="0" smtClean="0"/>
              <a:t>граммы 1–2) + логистическая регрессия</a:t>
            </a:r>
            <a:r>
              <a:rPr lang="en-US" dirty="0" smtClean="0"/>
              <a:t> (</a:t>
            </a:r>
            <a:r>
              <a:rPr lang="ru-RU" dirty="0" smtClean="0"/>
              <a:t>простой метод как ориентир</a:t>
            </a:r>
            <a:r>
              <a:rPr lang="en-US" dirty="0" smtClean="0"/>
              <a:t>)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b="1" dirty="0" err="1" smtClean="0"/>
              <a:t>Нейросети</a:t>
            </a:r>
            <a:r>
              <a:rPr lang="ru-RU" dirty="0" smtClean="0"/>
              <a:t>: </a:t>
            </a:r>
            <a:r>
              <a:rPr lang="ru-RU" dirty="0" err="1" smtClean="0"/>
              <a:t>дообучение</a:t>
            </a:r>
            <a:r>
              <a:rPr lang="ru-RU" dirty="0" smtClean="0"/>
              <a:t> </a:t>
            </a:r>
            <a:r>
              <a:rPr lang="en-US" i="1" dirty="0" err="1" smtClean="0"/>
              <a:t>distilbert</a:t>
            </a:r>
            <a:r>
              <a:rPr lang="en-US" i="1" dirty="0" smtClean="0"/>
              <a:t>-base-uncased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i="1" dirty="0" err="1" smtClean="0"/>
              <a:t>bert</a:t>
            </a:r>
            <a:r>
              <a:rPr lang="en-US" i="1" dirty="0" smtClean="0"/>
              <a:t>-base-uncased</a:t>
            </a:r>
          </a:p>
          <a:p>
            <a:pPr marL="0" indent="0">
              <a:buNone/>
            </a:pPr>
            <a:r>
              <a:rPr lang="en-US" dirty="0" smtClean="0"/>
              <a:t>3 </a:t>
            </a:r>
            <a:r>
              <a:rPr lang="ru-RU" dirty="0" smtClean="0"/>
              <a:t>эпохи </a:t>
            </a:r>
            <a:r>
              <a:rPr lang="en-US" dirty="0" smtClean="0"/>
              <a:t>&lt;-&gt;</a:t>
            </a:r>
            <a:r>
              <a:rPr lang="ru-RU" dirty="0" smtClean="0"/>
              <a:t> </a:t>
            </a:r>
            <a:r>
              <a:rPr lang="en-US" dirty="0" smtClean="0"/>
              <a:t>batch 8 </a:t>
            </a:r>
            <a:r>
              <a:rPr lang="en-US" dirty="0" smtClean="0"/>
              <a:t>&lt;-&gt;</a:t>
            </a:r>
            <a:r>
              <a:rPr lang="en-US" dirty="0" smtClean="0"/>
              <a:t> max length 256 </a:t>
            </a:r>
            <a:r>
              <a:rPr lang="en-US" dirty="0" smtClean="0"/>
              <a:t>&lt;-&gt;</a:t>
            </a:r>
            <a:r>
              <a:rPr lang="en-US" dirty="0" smtClean="0"/>
              <a:t> </a:t>
            </a:r>
            <a:r>
              <a:rPr lang="en-US" dirty="0" err="1" smtClean="0"/>
              <a:t>HuggingFace</a:t>
            </a:r>
            <a:r>
              <a:rPr lang="en-US" dirty="0" smtClean="0"/>
              <a:t> Trainer</a:t>
            </a:r>
          </a:p>
          <a:p>
            <a:pPr marL="0" indent="0">
              <a:buNone/>
            </a:pPr>
            <a:r>
              <a:rPr lang="en-US" dirty="0" smtClean="0"/>
              <a:t>                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747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44595" cy="816470"/>
          </a:xfrm>
        </p:spPr>
        <p:txBody>
          <a:bodyPr/>
          <a:lstStyle/>
          <a:p>
            <a:r>
              <a:rPr lang="en-US" b="1" dirty="0" smtClean="0"/>
              <a:t>Baseline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2302" y="676892"/>
            <a:ext cx="6434586" cy="52467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9081" y="1514104"/>
            <a:ext cx="41682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TF-IDF + логистическая регрессия</a:t>
            </a:r>
          </a:p>
          <a:p>
            <a:pPr algn="just"/>
            <a:endParaRPr lang="ru-RU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Быстро обучается (секунды)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Не требует GPU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Служит точкой отсчёта для сравнения</a:t>
            </a:r>
            <a:endParaRPr lang="ru-RU" sz="2400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621852"/>
              </p:ext>
            </p:extLst>
          </p:nvPr>
        </p:nvGraphicFramePr>
        <p:xfrm>
          <a:off x="285008" y="4635845"/>
          <a:ext cx="5035138" cy="128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7569">
                  <a:extLst>
                    <a:ext uri="{9D8B030D-6E8A-4147-A177-3AD203B41FA5}">
                      <a16:colId xmlns:a16="http://schemas.microsoft.com/office/drawing/2014/main" val="1072175404"/>
                    </a:ext>
                  </a:extLst>
                </a:gridCol>
                <a:gridCol w="2517569">
                  <a:extLst>
                    <a:ext uri="{9D8B030D-6E8A-4147-A177-3AD203B41FA5}">
                      <a16:colId xmlns:a16="http://schemas.microsoft.com/office/drawing/2014/main" val="3774356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effectLst/>
                        </a:rPr>
                        <a:t>Метрика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effectLst/>
                        </a:rPr>
                        <a:t>Значение</a:t>
                      </a:r>
                    </a:p>
                  </a:txBody>
                  <a:tcPr marL="57150" marR="57150" marT="31750" marB="31750"/>
                </a:tc>
                <a:extLst>
                  <a:ext uri="{0D108BD9-81ED-4DB2-BD59-A6C34878D82A}">
                    <a16:rowId xmlns:a16="http://schemas.microsoft.com/office/drawing/2014/main" val="2470586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1" dirty="0">
                          <a:effectLst/>
                        </a:rPr>
                        <a:t>Accuracy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 dirty="0">
                          <a:effectLst/>
                        </a:rPr>
                        <a:t>73.3%</a:t>
                      </a:r>
                    </a:p>
                  </a:txBody>
                  <a:tcPr marL="57150" marR="57150" marT="31750" marB="31750"/>
                </a:tc>
                <a:extLst>
                  <a:ext uri="{0D108BD9-81ED-4DB2-BD59-A6C34878D82A}">
                    <a16:rowId xmlns:a16="http://schemas.microsoft.com/office/drawing/2014/main" val="2954649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1" dirty="0">
                          <a:effectLst/>
                        </a:rPr>
                        <a:t>F1 macro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 dirty="0">
                          <a:effectLst/>
                        </a:rPr>
                        <a:t>~0.73</a:t>
                      </a:r>
                    </a:p>
                  </a:txBody>
                  <a:tcPr marL="57150" marR="57150" marT="31750" marB="31750"/>
                </a:tc>
                <a:extLst>
                  <a:ext uri="{0D108BD9-81ED-4DB2-BD59-A6C34878D82A}">
                    <a16:rowId xmlns:a16="http://schemas.microsoft.com/office/drawing/2014/main" val="4211823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77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2309"/>
            <a:ext cx="10515600" cy="1325563"/>
          </a:xfrm>
        </p:spPr>
        <p:txBody>
          <a:bodyPr/>
          <a:lstStyle/>
          <a:p>
            <a:r>
              <a:rPr lang="en-US" b="1" dirty="0" err="1"/>
              <a:t>DistilBERT</a:t>
            </a:r>
            <a:r>
              <a:rPr lang="en-US" b="1" dirty="0"/>
              <a:t> vs BERT-base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872606"/>
              </p:ext>
            </p:extLst>
          </p:nvPr>
        </p:nvGraphicFramePr>
        <p:xfrm>
          <a:off x="838200" y="1706871"/>
          <a:ext cx="10515600" cy="2111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769848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149095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701072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42884723"/>
                    </a:ext>
                  </a:extLst>
                </a:gridCol>
              </a:tblGrid>
              <a:tr h="527761"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effectLst/>
                        </a:rPr>
                        <a:t>Модель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effectLst/>
                        </a:rPr>
                        <a:t>Accuracy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effectLst/>
                        </a:rPr>
                        <a:t>F1 macro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400" b="1" dirty="0">
                          <a:effectLst/>
                        </a:rPr>
                        <a:t>Время обучения</a:t>
                      </a:r>
                    </a:p>
                  </a:txBody>
                  <a:tcPr marL="57150" marR="57150" marT="31750" marB="31750"/>
                </a:tc>
                <a:extLst>
                  <a:ext uri="{0D108BD9-81ED-4DB2-BD59-A6C34878D82A}">
                    <a16:rowId xmlns:a16="http://schemas.microsoft.com/office/drawing/2014/main" val="1465041774"/>
                  </a:ext>
                </a:extLst>
              </a:tr>
              <a:tr h="527761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1" dirty="0">
                          <a:effectLst/>
                        </a:rPr>
                        <a:t>TF-IDF + </a:t>
                      </a:r>
                      <a:r>
                        <a:rPr lang="en-US" sz="2400" b="1" dirty="0" err="1">
                          <a:effectLst/>
                        </a:rPr>
                        <a:t>LogReg</a:t>
                      </a:r>
                      <a:endParaRPr lang="en-US" sz="2400" b="1" dirty="0">
                        <a:effectLst/>
                      </a:endParaRP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>
                          <a:effectLst/>
                        </a:rPr>
                        <a:t>0.733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>
                          <a:effectLst/>
                        </a:rPr>
                        <a:t>~0.73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>
                          <a:effectLst/>
                        </a:rPr>
                        <a:t>секунды</a:t>
                      </a:r>
                    </a:p>
                  </a:txBody>
                  <a:tcPr marL="57150" marR="57150" marT="31750" marB="31750"/>
                </a:tc>
                <a:extLst>
                  <a:ext uri="{0D108BD9-81ED-4DB2-BD59-A6C34878D82A}">
                    <a16:rowId xmlns:a16="http://schemas.microsoft.com/office/drawing/2014/main" val="3659788629"/>
                  </a:ext>
                </a:extLst>
              </a:tr>
              <a:tr h="527761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1" dirty="0" err="1">
                          <a:effectLst/>
                        </a:rPr>
                        <a:t>DistilBERT</a:t>
                      </a:r>
                      <a:endParaRPr lang="en-US" sz="2400" b="1" dirty="0">
                        <a:effectLst/>
                      </a:endParaRP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>
                          <a:effectLst/>
                        </a:rPr>
                        <a:t>0.823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>
                          <a:effectLst/>
                        </a:rPr>
                        <a:t>0.825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>
                          <a:effectLst/>
                        </a:rPr>
                        <a:t>3.4 мин</a:t>
                      </a:r>
                    </a:p>
                  </a:txBody>
                  <a:tcPr marL="57150" marR="57150" marT="31750" marB="31750"/>
                </a:tc>
                <a:extLst>
                  <a:ext uri="{0D108BD9-81ED-4DB2-BD59-A6C34878D82A}">
                    <a16:rowId xmlns:a16="http://schemas.microsoft.com/office/drawing/2014/main" val="2813094404"/>
                  </a:ext>
                </a:extLst>
              </a:tr>
              <a:tr h="527761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1" dirty="0">
                          <a:effectLst/>
                        </a:rPr>
                        <a:t>BERT-base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 dirty="0">
                          <a:effectLst/>
                        </a:rPr>
                        <a:t>0.847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>
                          <a:effectLst/>
                        </a:rPr>
                        <a:t>0.849</a:t>
                      </a:r>
                    </a:p>
                  </a:txBody>
                  <a:tcPr marL="57150" marR="57150" marT="31750" marB="31750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400" b="0" dirty="0">
                          <a:effectLst/>
                        </a:rPr>
                        <a:t>6.6 мин</a:t>
                      </a:r>
                    </a:p>
                  </a:txBody>
                  <a:tcPr marL="57150" marR="57150" marT="31750" marB="31750"/>
                </a:tc>
                <a:extLst>
                  <a:ext uri="{0D108BD9-81ED-4DB2-BD59-A6C34878D82A}">
                    <a16:rowId xmlns:a16="http://schemas.microsoft.com/office/drawing/2014/main" val="739338808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838200" y="4097562"/>
            <a:ext cx="10515600" cy="2341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Вывод</a:t>
            </a:r>
            <a:r>
              <a:rPr lang="en-US" sz="2800" b="1" dirty="0"/>
              <a:t>:</a:t>
            </a:r>
            <a:endParaRPr lang="ru-RU" sz="2800" b="1" dirty="0" smtClean="0"/>
          </a:p>
          <a:p>
            <a:pPr>
              <a:lnSpc>
                <a:spcPct val="125000"/>
              </a:lnSpc>
            </a:pPr>
            <a:endParaRPr lang="ru-RU" sz="1050" dirty="0" smtClean="0"/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800" dirty="0" err="1" smtClean="0"/>
              <a:t>Нейросети</a:t>
            </a:r>
            <a:r>
              <a:rPr lang="ru-RU" sz="2800" dirty="0" smtClean="0"/>
              <a:t>: +9–11 </a:t>
            </a:r>
            <a:r>
              <a:rPr lang="ru-RU" sz="2800" dirty="0" err="1" smtClean="0"/>
              <a:t>п.п</a:t>
            </a:r>
            <a:r>
              <a:rPr lang="ru-RU" sz="2800" dirty="0" smtClean="0"/>
              <a:t>. к </a:t>
            </a:r>
            <a:r>
              <a:rPr lang="ru-RU" sz="2800" dirty="0" err="1" smtClean="0"/>
              <a:t>baseline</a:t>
            </a:r>
            <a:endParaRPr lang="ru-RU" sz="2800" dirty="0" smtClean="0"/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800" dirty="0" smtClean="0"/>
              <a:t>BERT-</a:t>
            </a:r>
            <a:r>
              <a:rPr lang="ru-RU" sz="2800" dirty="0" err="1" smtClean="0"/>
              <a:t>base</a:t>
            </a:r>
            <a:r>
              <a:rPr lang="ru-RU" sz="2800" dirty="0" smtClean="0"/>
              <a:t> точнее, </a:t>
            </a:r>
            <a:r>
              <a:rPr lang="ru-RU" sz="2800" dirty="0" err="1" smtClean="0"/>
              <a:t>DistilBERT</a:t>
            </a:r>
            <a:r>
              <a:rPr lang="ru-RU" sz="2800" dirty="0" smtClean="0"/>
              <a:t> — почти в 2</a:t>
            </a:r>
            <a:r>
              <a:rPr lang="en-US" sz="2800" dirty="0" smtClean="0"/>
              <a:t>x</a:t>
            </a:r>
            <a:r>
              <a:rPr lang="ru-RU" sz="2800" dirty="0" smtClean="0"/>
              <a:t> быстрее</a:t>
            </a: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ru-RU" sz="2800" dirty="0" smtClean="0"/>
              <a:t>Для проекта выбрана BERT-</a:t>
            </a:r>
            <a:r>
              <a:rPr lang="ru-RU" sz="2800" dirty="0" err="1" smtClean="0"/>
              <a:t>base</a:t>
            </a:r>
            <a:r>
              <a:rPr lang="ru-RU" sz="2800" dirty="0" smtClean="0"/>
              <a:t> как лучшая по качеству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371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9678"/>
          </a:xfrm>
        </p:spPr>
        <p:txBody>
          <a:bodyPr/>
          <a:lstStyle/>
          <a:p>
            <a:r>
              <a:rPr lang="ru-RU" b="1" dirty="0"/>
              <a:t>Качество по жанрам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4567" y="1439679"/>
            <a:ext cx="5801784" cy="4351338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607890"/>
              </p:ext>
            </p:extLst>
          </p:nvPr>
        </p:nvGraphicFramePr>
        <p:xfrm>
          <a:off x="255318" y="1439679"/>
          <a:ext cx="5759535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845">
                  <a:extLst>
                    <a:ext uri="{9D8B030D-6E8A-4147-A177-3AD203B41FA5}">
                      <a16:colId xmlns:a16="http://schemas.microsoft.com/office/drawing/2014/main" val="3195496968"/>
                    </a:ext>
                  </a:extLst>
                </a:gridCol>
                <a:gridCol w="1919845">
                  <a:extLst>
                    <a:ext uri="{9D8B030D-6E8A-4147-A177-3AD203B41FA5}">
                      <a16:colId xmlns:a16="http://schemas.microsoft.com/office/drawing/2014/main" val="2683662875"/>
                    </a:ext>
                  </a:extLst>
                </a:gridCol>
                <a:gridCol w="1919845">
                  <a:extLst>
                    <a:ext uri="{9D8B030D-6E8A-4147-A177-3AD203B41FA5}">
                      <a16:colId xmlns:a16="http://schemas.microsoft.com/office/drawing/2014/main" val="3032120401"/>
                    </a:ext>
                  </a:extLst>
                </a:gridCol>
              </a:tblGrid>
              <a:tr h="888483">
                <a:tc>
                  <a:txBody>
                    <a:bodyPr/>
                    <a:lstStyle/>
                    <a:p>
                      <a:pPr algn="ctr" fontAlgn="t"/>
                      <a:r>
                        <a:rPr lang="ru-RU" sz="2300" b="1" dirty="0">
                          <a:effectLst/>
                        </a:rPr>
                        <a:t>Жанр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300" b="1" dirty="0">
                          <a:effectLst/>
                        </a:rPr>
                        <a:t>F1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2300" b="1" dirty="0">
                          <a:effectLst/>
                        </a:rPr>
                        <a:t>Комментарий</a:t>
                      </a:r>
                    </a:p>
                  </a:txBody>
                  <a:tcPr marL="57150" marR="57150" marT="31750" marB="31750" anchor="ctr"/>
                </a:tc>
                <a:extLst>
                  <a:ext uri="{0D108BD9-81ED-4DB2-BD59-A6C34878D82A}">
                    <a16:rowId xmlns:a16="http://schemas.microsoft.com/office/drawing/2014/main" val="3422506851"/>
                  </a:ext>
                </a:extLst>
              </a:tr>
              <a:tr h="888483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300" b="1">
                          <a:effectLst/>
                        </a:rPr>
                        <a:t>Sequential Art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>
                          <a:effectLst/>
                        </a:rPr>
                        <a:t>0.89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 dirty="0">
                          <a:effectLst/>
                        </a:rPr>
                        <a:t>Лучший класс</a:t>
                      </a:r>
                    </a:p>
                  </a:txBody>
                  <a:tcPr marL="57150" marR="57150" marT="31750" marB="31750" anchor="ctr"/>
                </a:tc>
                <a:extLst>
                  <a:ext uri="{0D108BD9-81ED-4DB2-BD59-A6C34878D82A}">
                    <a16:rowId xmlns:a16="http://schemas.microsoft.com/office/drawing/2014/main" val="1648946495"/>
                  </a:ext>
                </a:extLst>
              </a:tr>
              <a:tr h="553547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300" b="1">
                          <a:effectLst/>
                        </a:rPr>
                        <a:t>History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>
                          <a:effectLst/>
                        </a:rPr>
                        <a:t>0.87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>
                          <a:effectLst/>
                        </a:rPr>
                        <a:t>Стабильно</a:t>
                      </a:r>
                    </a:p>
                  </a:txBody>
                  <a:tcPr marL="57150" marR="57150" marT="31750" marB="31750" anchor="ctr"/>
                </a:tc>
                <a:extLst>
                  <a:ext uri="{0D108BD9-81ED-4DB2-BD59-A6C34878D82A}">
                    <a16:rowId xmlns:a16="http://schemas.microsoft.com/office/drawing/2014/main" val="2953699234"/>
                  </a:ext>
                </a:extLst>
              </a:tr>
              <a:tr h="553547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300" b="1">
                          <a:effectLst/>
                        </a:rPr>
                        <a:t>Romance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>
                          <a:effectLst/>
                        </a:rPr>
                        <a:t>0.84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 dirty="0">
                          <a:effectLst/>
                        </a:rPr>
                        <a:t>Хорошо</a:t>
                      </a:r>
                    </a:p>
                  </a:txBody>
                  <a:tcPr marL="57150" marR="57150" marT="31750" marB="31750" anchor="ctr"/>
                </a:tc>
                <a:extLst>
                  <a:ext uri="{0D108BD9-81ED-4DB2-BD59-A6C34878D82A}">
                    <a16:rowId xmlns:a16="http://schemas.microsoft.com/office/drawing/2014/main" val="407658690"/>
                  </a:ext>
                </a:extLst>
              </a:tr>
              <a:tr h="553547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300" b="1">
                          <a:effectLst/>
                        </a:rPr>
                        <a:t>Nonfiction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>
                          <a:effectLst/>
                        </a:rPr>
                        <a:t>0.82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 dirty="0">
                          <a:effectLst/>
                        </a:rPr>
                        <a:t>Хорошо</a:t>
                      </a:r>
                    </a:p>
                  </a:txBody>
                  <a:tcPr marL="57150" marR="57150" marT="31750" marB="31750" anchor="ctr"/>
                </a:tc>
                <a:extLst>
                  <a:ext uri="{0D108BD9-81ED-4DB2-BD59-A6C34878D82A}">
                    <a16:rowId xmlns:a16="http://schemas.microsoft.com/office/drawing/2014/main" val="275963673"/>
                  </a:ext>
                </a:extLst>
              </a:tr>
              <a:tr h="913731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300" b="1" dirty="0">
                          <a:effectLst/>
                        </a:rPr>
                        <a:t>Fantasy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 dirty="0">
                          <a:effectLst/>
                        </a:rPr>
                        <a:t>0.81</a:t>
                      </a:r>
                    </a:p>
                  </a:txBody>
                  <a:tcPr marL="57150" marR="57150" marT="31750" marB="31750" anchor="ctr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ru-RU" sz="2300" dirty="0">
                          <a:effectLst/>
                        </a:rPr>
                        <a:t>Ниже </a:t>
                      </a:r>
                      <a:r>
                        <a:rPr lang="ru-RU" sz="2300" dirty="0" err="1" smtClean="0">
                          <a:effectLst/>
                        </a:rPr>
                        <a:t>precision</a:t>
                      </a:r>
                      <a:endParaRPr lang="ru-RU" sz="2300" dirty="0">
                        <a:effectLst/>
                      </a:endParaRPr>
                    </a:p>
                  </a:txBody>
                  <a:tcPr marL="57150" marR="57150" marT="31750" marB="31750" anchor="ctr"/>
                </a:tc>
                <a:extLst>
                  <a:ext uri="{0D108BD9-81ED-4DB2-BD59-A6C34878D82A}">
                    <a16:rowId xmlns:a16="http://schemas.microsoft.com/office/drawing/2014/main" val="2664851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40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367"/>
            <a:ext cx="10515600" cy="1325563"/>
          </a:xfrm>
        </p:spPr>
        <p:txBody>
          <a:bodyPr/>
          <a:lstStyle/>
          <a:p>
            <a:r>
              <a:rPr lang="ru-RU" b="1" dirty="0"/>
              <a:t>Ограничения и </a:t>
            </a:r>
            <a:r>
              <a:rPr lang="ru-RU" b="1" dirty="0" smtClean="0"/>
              <a:t>перспективы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58429"/>
            <a:ext cx="10515600" cy="49729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Ограничения</a:t>
            </a:r>
          </a:p>
          <a:p>
            <a:pPr marL="0" indent="0">
              <a:lnSpc>
                <a:spcPct val="120000"/>
              </a:lnSpc>
              <a:buNone/>
            </a:pPr>
            <a:endParaRPr lang="ru-RU" sz="1300" dirty="0" smtClean="0"/>
          </a:p>
          <a:p>
            <a:pPr>
              <a:lnSpc>
                <a:spcPct val="120000"/>
              </a:lnSpc>
            </a:pPr>
            <a:r>
              <a:rPr lang="ru-RU" dirty="0" smtClean="0"/>
              <a:t>Английский язык (</a:t>
            </a:r>
            <a:r>
              <a:rPr lang="ru-RU" i="1" dirty="0" err="1" smtClean="0"/>
              <a:t>Goodreads</a:t>
            </a:r>
            <a:r>
              <a:rPr lang="ru-RU" dirty="0" smtClean="0"/>
              <a:t>)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Только 5 жанров, один жанр на книгу (</a:t>
            </a:r>
            <a:r>
              <a:rPr lang="ru-RU" i="1" dirty="0" smtClean="0"/>
              <a:t>первый из составных</a:t>
            </a:r>
            <a:r>
              <a:rPr lang="ru-RU" dirty="0" smtClean="0"/>
              <a:t>)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Качество зависит от полноты аннотации (</a:t>
            </a:r>
            <a:r>
              <a:rPr lang="ru-RU" i="1" dirty="0" smtClean="0"/>
              <a:t>что весьма очевидно</a:t>
            </a:r>
            <a:r>
              <a:rPr lang="ru-RU" dirty="0" smtClean="0"/>
              <a:t>)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b="1" dirty="0" smtClean="0"/>
              <a:t>Направления развития</a:t>
            </a:r>
          </a:p>
          <a:p>
            <a:pPr marL="0" indent="0">
              <a:lnSpc>
                <a:spcPct val="110000"/>
              </a:lnSpc>
              <a:buNone/>
            </a:pPr>
            <a:endParaRPr lang="ru-RU" sz="1200" dirty="0" smtClean="0"/>
          </a:p>
          <a:p>
            <a:pPr>
              <a:lnSpc>
                <a:spcPct val="110000"/>
              </a:lnSpc>
            </a:pPr>
            <a:r>
              <a:rPr lang="ru-RU" dirty="0" err="1" smtClean="0"/>
              <a:t>Мультилейбл</a:t>
            </a:r>
            <a:r>
              <a:rPr lang="ru-RU" dirty="0" smtClean="0"/>
              <a:t>-классификация (несколько жанров)</a:t>
            </a:r>
          </a:p>
          <a:p>
            <a:pPr>
              <a:lnSpc>
                <a:spcPct val="110000"/>
              </a:lnSpc>
            </a:pPr>
            <a:r>
              <a:rPr lang="ru-RU" dirty="0" smtClean="0"/>
              <a:t>Русскоязычный корпус + </a:t>
            </a:r>
            <a:r>
              <a:rPr lang="ru-RU" dirty="0" err="1" smtClean="0"/>
              <a:t>RuBERT</a:t>
            </a:r>
            <a:endParaRPr lang="ru-RU" dirty="0" smtClean="0"/>
          </a:p>
          <a:p>
            <a:pPr>
              <a:lnSpc>
                <a:spcPct val="110000"/>
              </a:lnSpc>
            </a:pPr>
            <a:r>
              <a:rPr lang="ru-RU" dirty="0" smtClean="0"/>
              <a:t>Веб-интерфейс (</a:t>
            </a:r>
            <a:r>
              <a:rPr lang="ru-RU" dirty="0" err="1" smtClean="0"/>
              <a:t>Gradio</a:t>
            </a:r>
            <a:r>
              <a:rPr lang="ru-RU" dirty="0" smtClean="0"/>
              <a:t> / </a:t>
            </a:r>
            <a:r>
              <a:rPr lang="ru-RU" dirty="0" err="1" smtClean="0"/>
              <a:t>Streamlit</a:t>
            </a:r>
            <a:r>
              <a:rPr lang="ru-RU" dirty="0" smtClean="0"/>
              <a:t>) с возможностью ввода аннотации</a:t>
            </a:r>
          </a:p>
        </p:txBody>
      </p:sp>
    </p:spTree>
    <p:extLst>
      <p:ext uri="{BB962C8B-B14F-4D97-AF65-F5344CB8AC3E}">
        <p14:creationId xmlns:p14="http://schemas.microsoft.com/office/powerpoint/2010/main" val="192715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278</Words>
  <Application>Microsoft Office PowerPoint</Application>
  <PresentationFormat>Широкоэкранный</PresentationFormat>
  <Paragraphs>99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Классификация жанра книги по аннотации</vt:lpstr>
      <vt:lpstr>Презентация PowerPoint</vt:lpstr>
      <vt:lpstr>Презентация PowerPoint</vt:lpstr>
      <vt:lpstr>Презентация PowerPoint</vt:lpstr>
      <vt:lpstr>Baseline</vt:lpstr>
      <vt:lpstr>DistilBERT vs BERT-base</vt:lpstr>
      <vt:lpstr>Качество по жанрам</vt:lpstr>
      <vt:lpstr>Ограничения и перспективы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Классификация жанра книги по аннотации</dc:title>
  <dc:creator>Пользователь</dc:creator>
  <cp:lastModifiedBy>Пользователь</cp:lastModifiedBy>
  <cp:revision>11</cp:revision>
  <dcterms:created xsi:type="dcterms:W3CDTF">2026-06-26T02:31:13Z</dcterms:created>
  <dcterms:modified xsi:type="dcterms:W3CDTF">2026-06-26T04:59:06Z</dcterms:modified>
</cp:coreProperties>
</file>